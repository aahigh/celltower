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Skill gaming (USD B)</c:v>
                </c:pt>
              </c:strCache>
            </c:strRef>
          </c:tx>
          <c:spPr>
            <a:solidFill>
              <a:srgbClr val="00FFAA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  <c:pt idx="6">
                    <c:v>2032</c:v>
                  </c:pt>
                  <c:pt idx="7">
                    <c:v>2033</c:v>
                  </c:pt>
                  <c:pt idx="8">
                    <c:v>2034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52.7</c:v>
                </c:pt>
                <c:pt idx="1">
                  <c:v>58.5</c:v>
                </c:pt>
                <c:pt idx="2">
                  <c:v>64.9</c:v>
                </c:pt>
                <c:pt idx="3">
                  <c:v>72.1</c:v>
                </c:pt>
                <c:pt idx="4">
                  <c:v>80</c:v>
                </c:pt>
                <c:pt idx="5">
                  <c:v>88.8</c:v>
                </c:pt>
                <c:pt idx="6">
                  <c:v>98.6</c:v>
                </c:pt>
                <c:pt idx="7">
                  <c:v>109.4</c:v>
                </c:pt>
                <c:pt idx="8">
                  <c:v>121.6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92C0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6350" cap="flat">
              <a:solidFill>
                <a:srgbClr val="2A14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92C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0634"/>
        </a:solidFill>
        <a:ln>
          <a:noFill/>
        </a:ln>
        <a:effectLst/>
      </c:spPr>
    </c:plotArea>
    <c:plotVisOnly val="1"/>
    <c:dispBlanksAs val="span"/>
  </c:chart>
  <c:spPr>
    <a:solidFill>
      <a:srgbClr val="12063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0" cy="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6576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51615" y="274320"/>
            <a:ext cx="365760" cy="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6576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65760" cy="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17920"/>
            <a:ext cx="0" cy="36576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51615" y="6583680"/>
            <a:ext cx="365760" cy="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17920"/>
            <a:ext cx="0" cy="36576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502920"/>
            <a:ext cx="201168" cy="0"/>
          </a:xfrm>
          <a:prstGeom prst="line">
            <a:avLst/>
          </a:prstGeom>
          <a:noFill/>
          <a:ln w="12700">
            <a:solidFill>
              <a:srgbClr val="2A14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02920"/>
            <a:ext cx="0" cy="201168"/>
          </a:xfrm>
          <a:prstGeom prst="line">
            <a:avLst/>
          </a:prstGeom>
          <a:noFill/>
          <a:ln w="12700">
            <a:solidFill>
              <a:srgbClr val="2A14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87607" y="502920"/>
            <a:ext cx="201168" cy="0"/>
          </a:xfrm>
          <a:prstGeom prst="line">
            <a:avLst/>
          </a:prstGeom>
          <a:noFill/>
          <a:ln w="12700">
            <a:solidFill>
              <a:srgbClr val="2A14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88775" y="502920"/>
            <a:ext cx="0" cy="201168"/>
          </a:xfrm>
          <a:prstGeom prst="line">
            <a:avLst/>
          </a:prstGeom>
          <a:noFill/>
          <a:ln w="12700">
            <a:solidFill>
              <a:srgbClr val="2A1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355080"/>
            <a:ext cx="201168" cy="0"/>
          </a:xfrm>
          <a:prstGeom prst="line">
            <a:avLst/>
          </a:prstGeom>
          <a:noFill/>
          <a:ln w="12700">
            <a:solidFill>
              <a:srgbClr val="2A14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6153912"/>
            <a:ext cx="0" cy="201168"/>
          </a:xfrm>
          <a:prstGeom prst="line">
            <a:avLst/>
          </a:prstGeom>
          <a:noFill/>
          <a:ln w="12700">
            <a:solidFill>
              <a:srgbClr val="2A14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87607" y="6355080"/>
            <a:ext cx="201168" cy="0"/>
          </a:xfrm>
          <a:prstGeom prst="line">
            <a:avLst/>
          </a:prstGeom>
          <a:noFill/>
          <a:ln w="12700">
            <a:solidFill>
              <a:srgbClr val="2A14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88775" y="6153912"/>
            <a:ext cx="0" cy="201168"/>
          </a:xfrm>
          <a:prstGeom prst="line">
            <a:avLst/>
          </a:prstGeom>
          <a:noFill/>
          <a:ln w="12700">
            <a:solidFill>
              <a:srgbClr val="2A14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PROVABLY-FAIR SKILL-GAMING INFRASTRUCTURE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2286000"/>
            <a:ext cx="114601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100" kern="0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FF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C6F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3A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8A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C04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FF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C6F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3A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8A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C04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ctr" indent="0" marL="0">
              <a:buNone/>
            </a:pPr>
            <a:r>
              <a:rPr lang="en-US" sz="4600" b="1" spc="100" kern="0" dirty="0">
                <a:solidFill>
                  <a:srgbClr val="FF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914400" y="36118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proof for every score, every payout, every tournament.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" y="5029200"/>
            <a:ext cx="3246120" cy="868680"/>
          </a:xfrm>
          <a:prstGeom prst="rect">
            <a:avLst/>
          </a:prstGeom>
          <a:solidFill>
            <a:srgbClr val="120634"/>
          </a:solidFill>
          <a:ln w="12700">
            <a:solidFill>
              <a:srgbClr val="00FF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88720" y="5138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5413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Aaron Hightower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480560" y="5029200"/>
            <a:ext cx="3246120" cy="868680"/>
          </a:xfrm>
          <a:prstGeom prst="rect">
            <a:avLst/>
          </a:prstGeom>
          <a:solidFill>
            <a:srgbClr val="120634"/>
          </a:solidFill>
          <a:ln w="12700">
            <a:solidFill>
              <a:srgbClr val="FFC24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5138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5413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$2,000,000 SEED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001000" y="5029200"/>
            <a:ext cx="3246120" cy="868680"/>
          </a:xfrm>
          <a:prstGeom prst="rect">
            <a:avLst/>
          </a:prstGeom>
          <a:solidFill>
            <a:srgbClr val="120634"/>
          </a:solidFill>
          <a:ln w="12700">
            <a:solidFill>
              <a:srgbClr val="FF2A9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0" y="5138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5413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ahightower.com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PROBLEM  ·  THE TRUST GAP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Real-money skill gaming runs on</a:t>
            </a:r>
            <a:endParaRPr lang="en-US" sz="3000" dirty="0"/>
          </a:p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it cannot prove.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3611880" cy="24688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548640" cy="548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724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CHEATING GOES UNPROVEN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" y="4114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Bots, memory edits, and doctored replays. When money is on the line, operators have no way to prove a score was actually earned.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297680" y="2697480"/>
            <a:ext cx="3611880" cy="24688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92608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DISPUTED PAYOUTS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72000" y="4114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contested result becomes a chargeback, a refund, or a lawsuit. Trust-based scoring does not survive contact with cash prizes.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092440" y="2697480"/>
            <a:ext cx="3611880" cy="24688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6676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"SKILL vs CHANCE" SCRUTINY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366760" y="4114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payment processors increasingly demand auditable fairness. Most platforms simply cannot deliver it.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02920" y="544068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$25B+  </a:t>
            </a:r>
            <a:pPr indent="0" marL="0">
              <a:buNone/>
            </a:pPr>
            <a:r>
              <a:rPr lang="en-US" sz="14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real-money skill-games market in 2026 — and industry analysts name fraud and fair-play as the category's critical risk.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SOLUTION  ·  PROOF, NOT PROMISES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integrity layer that makes every</a:t>
            </a:r>
            <a:endParaRPr lang="en-US" sz="3000" dirty="0"/>
          </a:p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independently verifiable.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" y="23317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 session emits a tamper-evident receipt. Operator, player, or regulator can replay and verify it offline — no trust required.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3611880" cy="2423160"/>
          </a:xfrm>
          <a:prstGeom prst="rect">
            <a:avLst/>
          </a:prstGeom>
          <a:solidFill>
            <a:srgbClr val="1A0A47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246120"/>
            <a:ext cx="713232" cy="713232"/>
          </a:xfrm>
          <a:prstGeom prst="ellipse">
            <a:avLst/>
          </a:prstGeom>
          <a:solidFill>
            <a:srgbClr val="080018"/>
          </a:solidFill>
          <a:ln w="19050">
            <a:solidFill>
              <a:srgbClr val="00FFA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3392424"/>
            <a:ext cx="420624" cy="42062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REPLAY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4462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seeded RNG means identical inputs always reproduce the identical game. The score is reconstructable from first principles.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297680" y="3017520"/>
            <a:ext cx="3611880" cy="2423160"/>
          </a:xfrm>
          <a:prstGeom prst="rect">
            <a:avLst/>
          </a:prstGeom>
          <a:solidFill>
            <a:srgbClr val="1A0A47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3246120"/>
            <a:ext cx="713232" cy="713232"/>
          </a:xfrm>
          <a:prstGeom prst="ellipse">
            <a:avLst/>
          </a:prstGeom>
          <a:solidFill>
            <a:srgbClr val="080018"/>
          </a:solidFill>
          <a:ln w="19050">
            <a:solidFill>
              <a:srgbClr val="00FFA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3392424"/>
            <a:ext cx="420624" cy="42062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57200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TAMPER-EVIDENT RECEIPT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572000" y="4462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hash chain signs the full session. Alter a single frame and the hash breaks — instantly, visibly.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8092440" y="3017520"/>
            <a:ext cx="3611880" cy="2423160"/>
          </a:xfrm>
          <a:prstGeom prst="rect">
            <a:avLst/>
          </a:prstGeom>
          <a:solidFill>
            <a:srgbClr val="1A0A47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66760" y="3246120"/>
            <a:ext cx="713232" cy="713232"/>
          </a:xfrm>
          <a:prstGeom prst="ellipse">
            <a:avLst/>
          </a:prstGeom>
          <a:solidFill>
            <a:srgbClr val="080018"/>
          </a:solidFill>
          <a:ln w="19050">
            <a:solidFill>
              <a:srgbClr val="00FFA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3392424"/>
            <a:ext cx="420624" cy="42062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667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AIR-GAPPED VALIDATION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366760" y="44622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validate via offline QR. No server, no network call, no surface to forge against.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  ·  THE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 our own title to prove it.</a:t>
            </a:r>
            <a:endParaRPr lang="en-US" sz="3000" dirty="0"/>
          </a:p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 the engine to the market.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3611880" cy="26974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566928" cy="5669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7240" y="3611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CELLTOWER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7240" y="4005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FLAGSHIP TITLE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" y="43434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shipping competitive game — living proof the integrity layer works in production, not just on paper.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297680" y="2697480"/>
            <a:ext cx="3611880" cy="26974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926080"/>
            <a:ext cx="566928" cy="5669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72000" y="3611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SWITCHBOARD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572000" y="4005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TOURNAMENT OPS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0" y="43434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console with a double-entry, hash-chained ledger for entries, scores, and payouts. Audit-grade by design.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092440" y="2697480"/>
            <a:ext cx="3611880" cy="26974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0"/>
            <a:ext cx="566928" cy="56692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66760" y="3611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 ENGINE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8366760" y="4005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LICENSABLE CORE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366760" y="43434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drop-in SDK that gives any skill-gaming operator provable fairness. This is the platform play.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02920" y="553212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WEDGE:  </a:t>
            </a:r>
            <a:pPr indent="0" marL="0">
              <a:buNone/>
            </a:pPr>
            <a:r>
              <a:rPr lang="en-US" sz="1350" i="1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fairness in our own game, then sell the proof to everyone running real-money matches.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ARCHITECTURE  ·  UNDER THE HOOD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replay,</a:t>
            </a:r>
            <a:endParaRPr lang="en-US" sz="3000" dirty="0"/>
          </a:p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cryptographic receipt.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1572768" cy="1051560"/>
          </a:xfrm>
          <a:prstGeom prst="rect">
            <a:avLst/>
          </a:prstGeom>
          <a:solidFill>
            <a:srgbClr val="120634"/>
          </a:solidFill>
          <a:ln w="15875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43784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33375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026664"/>
            <a:ext cx="201168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331720" y="2697480"/>
            <a:ext cx="1572768" cy="1051560"/>
          </a:xfrm>
          <a:prstGeom prst="rect">
            <a:avLst/>
          </a:prstGeom>
          <a:solidFill>
            <a:srgbClr val="120634"/>
          </a:solidFill>
          <a:ln w="15875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284378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31720" y="33375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026664"/>
            <a:ext cx="201168" cy="20116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160520" y="2697480"/>
            <a:ext cx="1572768" cy="1051560"/>
          </a:xfrm>
          <a:prstGeom prst="rect">
            <a:avLst/>
          </a:prstGeom>
          <a:solidFill>
            <a:srgbClr val="120634"/>
          </a:solidFill>
          <a:ln w="15875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84378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160520" y="33375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</a:t>
            </a:r>
            <a:endParaRPr lang="en-US" sz="13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026664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989320" y="2697480"/>
            <a:ext cx="1572768" cy="1051560"/>
          </a:xfrm>
          <a:prstGeom prst="rect">
            <a:avLst/>
          </a:prstGeom>
          <a:solidFill>
            <a:srgbClr val="120634"/>
          </a:solidFill>
          <a:ln w="15875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2843784"/>
            <a:ext cx="438912" cy="43891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989320" y="33375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3026664"/>
            <a:ext cx="201168" cy="20116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7818120" y="2697480"/>
            <a:ext cx="1572768" cy="1051560"/>
          </a:xfrm>
          <a:prstGeom prst="rect">
            <a:avLst/>
          </a:prstGeom>
          <a:solidFill>
            <a:srgbClr val="120634"/>
          </a:solidFill>
          <a:ln w="15875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048" y="2843784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818120" y="33375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</a:t>
            </a:r>
            <a:endParaRPr lang="en-US" sz="13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8320" y="3026664"/>
            <a:ext cx="201168" cy="201168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9646920" y="2697480"/>
            <a:ext cx="1572768" cy="1051560"/>
          </a:xfrm>
          <a:prstGeom prst="rect">
            <a:avLst/>
          </a:prstGeom>
          <a:solidFill>
            <a:srgbClr val="120634"/>
          </a:solidFill>
          <a:ln w="15875">
            <a:solidFill>
              <a:srgbClr val="00FF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3848" y="2843784"/>
            <a:ext cx="438912" cy="438912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9646920" y="33375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3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4178808"/>
            <a:ext cx="237744" cy="237744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914400" y="4105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6-character seed drives an xoshiro128** PRNG — identical seed, identical game.</a:t>
            </a:r>
            <a:endParaRPr lang="en-US" sz="135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4636008"/>
            <a:ext cx="237744" cy="237744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914400" y="45628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inputs are quantized and packed as compact triples; a full session is a few hundred bytes.</a:t>
            </a:r>
            <a:endParaRPr lang="en-US" sz="135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5093208"/>
            <a:ext cx="237744" cy="237744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914400" y="50200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12-character terminal hash signs the run. Any tampering invalidates it on sight.</a:t>
            </a:r>
            <a:endParaRPr lang="en-US" sz="135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640" y="5550408"/>
            <a:ext cx="237744" cy="237744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914400" y="54772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offline and instant by QR — built for air-gapped, audit-grade environments.</a:t>
            </a:r>
            <a:endParaRPr lang="en-US" sz="1350" dirty="0"/>
          </a:p>
        </p:txBody>
      </p:sp>
      <p:sp>
        <p:nvSpPr>
          <p:cNvPr id="45" name="Text 28"/>
          <p:cNvSpPr/>
          <p:nvPr/>
        </p:nvSpPr>
        <p:spPr>
          <a:xfrm>
            <a:off x="914400" y="60076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production in CELLTOWER today.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WHY 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curves crossing at once.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5440680" cy="13258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2990088"/>
            <a:ext cx="731520" cy="731520"/>
          </a:xfrm>
          <a:prstGeom prst="ellipse">
            <a:avLst/>
          </a:prstGeom>
          <a:solidFill>
            <a:srgbClr val="080018"/>
          </a:solidFill>
          <a:ln w="19050">
            <a:solidFill>
              <a:srgbClr val="00FFAA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45536"/>
            <a:ext cx="420624" cy="4206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91640" y="28986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INFLECTION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691640" y="320954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Real-money skill gaming is ~$25B in 2026; broader skill gaming runs ~$53B today toward ~$122B by 2034.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72200" y="2697480"/>
            <a:ext cx="5440680" cy="13258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28232" y="2990088"/>
            <a:ext cx="731520" cy="731520"/>
          </a:xfrm>
          <a:prstGeom prst="ellipse">
            <a:avLst/>
          </a:prstGeom>
          <a:solidFill>
            <a:srgbClr val="080018"/>
          </a:solidFill>
          <a:ln w="19050">
            <a:solidFill>
              <a:srgbClr val="FFC24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145536"/>
            <a:ext cx="420624" cy="4206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60920" y="28986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 TIGHTENING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360920" y="320954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"Skill vs chance" rulings and KYC/AML rules force operators to prove fairness, not assert it.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02920" y="4206240"/>
            <a:ext cx="5440680" cy="13258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58952" y="4498848"/>
            <a:ext cx="731520" cy="731520"/>
          </a:xfrm>
          <a:prstGeom prst="ellipse">
            <a:avLst/>
          </a:prstGeom>
          <a:solidFill>
            <a:srgbClr val="080018"/>
          </a:solidFill>
          <a:ln w="19050">
            <a:solidFill>
              <a:srgbClr val="FF2A9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54296"/>
            <a:ext cx="420624" cy="4206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91640" y="44074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TOURNAMENTS MAINSTREAM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691640" y="471830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fees and prize pools are scaling fast — raising the cost of every disputed result.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172200" y="4206240"/>
            <a:ext cx="5440680" cy="13258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428232" y="4498848"/>
            <a:ext cx="731520" cy="731520"/>
          </a:xfrm>
          <a:prstGeom prst="ellipse">
            <a:avLst/>
          </a:prstGeom>
          <a:solidFill>
            <a:srgbClr val="080018"/>
          </a:solidFill>
          <a:ln w="19050">
            <a:solidFill>
              <a:srgbClr val="8A5BF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654296"/>
            <a:ext cx="420624" cy="42062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60920" y="44074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TECH IS READY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360920" y="471830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compute plus offline cryptographic verification now works at scale, cheaply.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MARKET  ·  TAM / SAM / SOM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multi-billion-dollar market</a:t>
            </a:r>
            <a:endParaRPr lang="en-US" sz="3000" dirty="0"/>
          </a:p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cannot prove itself.</a:t>
            </a:r>
            <a:endParaRPr lang="en-US" sz="3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02920" y="2697480"/>
          <a:ext cx="67665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035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Skill-gaming market 2026–2034  ·  ~11% CAGR  ·  Source: Fortune Business Insights, 2026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635240" y="2697480"/>
            <a:ext cx="4069080" cy="96012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863840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· SKILL GAMING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63840" y="3026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$52.7B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05840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2026, → $122B by 2034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635240" y="3840480"/>
            <a:ext cx="4069080" cy="96012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86384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 · REAL-MONEY SKILL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63840" y="4169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$25.2B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005840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2026, ~14% CAGR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635240" y="4983480"/>
            <a:ext cx="4069080" cy="96012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863840" y="5093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 · YOUR BEACHHEAD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863840" y="5330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your target ]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1005840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× matches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BUSINESS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scales with every</a:t>
            </a:r>
            <a:endParaRPr lang="en-US" sz="3000" dirty="0"/>
          </a:p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match we power.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3611880" cy="26974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530352" cy="53035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7240" y="3584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LICENSING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3977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Per-title / per-seat SDK license to operators who embed the Receipt Engine.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4864608"/>
            <a:ext cx="3063240" cy="384048"/>
          </a:xfrm>
          <a:prstGeom prst="rect">
            <a:avLst/>
          </a:prstGeom>
          <a:solidFill>
            <a:srgbClr val="080018"/>
          </a:solidFill>
          <a:ln w="12700">
            <a:solidFill>
              <a:srgbClr val="00FF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873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license tier ]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97680" y="2697480"/>
            <a:ext cx="3611880" cy="26974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926080"/>
            <a:ext cx="530352" cy="53035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72000" y="3584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PER-VERIFICATION FEE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572000" y="3977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of a cent per signed receipt — scales with every paid match across every operator.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572000" y="4864608"/>
            <a:ext cx="3063240" cy="384048"/>
          </a:xfrm>
          <a:prstGeom prst="rect">
            <a:avLst/>
          </a:prstGeom>
          <a:solidFill>
            <a:srgbClr val="080018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0" y="4873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rate ]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092440" y="2697480"/>
            <a:ext cx="3611880" cy="269748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0"/>
            <a:ext cx="530352" cy="53035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66760" y="3584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SWITCHBOARD SaaS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366760" y="3977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operators subscribe monthly for the ops console and hash-chained ledger.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366760" y="4864608"/>
            <a:ext cx="3063240" cy="384048"/>
          </a:xfrm>
          <a:prstGeom prst="rect">
            <a:avLst/>
          </a:prstGeom>
          <a:solidFill>
            <a:srgbClr val="080018"/>
          </a:solidFill>
          <a:ln w="12700">
            <a:solidFill>
              <a:srgbClr val="FF2A9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366760" y="4873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monthly tier ]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02920" y="553212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COMPOUNDS:  </a:t>
            </a:r>
            <a:pPr indent="0" marL="0">
              <a:buNone/>
            </a:pPr>
            <a:r>
              <a:rPr lang="en-US" sz="1350" i="1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on the volume of paid matches across the whole market, not just our own title.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FOUNDER  ·  WHY 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have been building this exact</a:t>
            </a:r>
            <a:endParaRPr lang="en-US" sz="3000" dirty="0"/>
          </a:p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for 25 years.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6903720" cy="82296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834640"/>
            <a:ext cx="475488" cy="475488"/>
          </a:xfrm>
          <a:prstGeom prst="ellipse">
            <a:avLst/>
          </a:prstGeom>
          <a:solidFill>
            <a:srgbClr val="080018"/>
          </a:solidFill>
          <a:ln w="19050">
            <a:solidFill>
              <a:srgbClr val="00FFAA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935224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27249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console classics — Pilotwings 64, San Francisco Rush 2049, Jak 3.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566160"/>
            <a:ext cx="6903720" cy="82296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" y="3749040"/>
            <a:ext cx="475488" cy="475488"/>
          </a:xfrm>
          <a:prstGeom prst="ellipse">
            <a:avLst/>
          </a:prstGeom>
          <a:solidFill>
            <a:srgbClr val="080018"/>
          </a:solidFill>
          <a:ln w="19050">
            <a:solidFill>
              <a:srgbClr val="00FFAA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849624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17320" y="36393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first SHA-based arcade score-verification system at Atari (1999) — and the first website to publish uploaded arcade high scores.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02920" y="4480560"/>
            <a:ext cx="6903720" cy="82296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31520" y="4663440"/>
            <a:ext cx="475488" cy="475488"/>
          </a:xfrm>
          <a:prstGeom prst="ellipse">
            <a:avLst/>
          </a:prstGeom>
          <a:solidFill>
            <a:srgbClr val="080018"/>
          </a:solidFill>
          <a:ln w="19050">
            <a:solidFill>
              <a:srgbClr val="00FFA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764024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45537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holder: linked-cabinet player-data storage.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920" y="5394960"/>
            <a:ext cx="6903720" cy="82296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520" y="5577840"/>
            <a:ext cx="475488" cy="475488"/>
          </a:xfrm>
          <a:prstGeom prst="ellipse">
            <a:avLst/>
          </a:prstGeom>
          <a:solidFill>
            <a:srgbClr val="080018"/>
          </a:solidFill>
          <a:ln w="19050">
            <a:solidFill>
              <a:srgbClr val="00FFA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5678424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54681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Skill-gaming systems veteran (IGT / NanoTech); ran cash-prize, linked-cabinet competitions.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7635240" y="2697480"/>
            <a:ext cx="4069080" cy="3520440"/>
          </a:xfrm>
          <a:prstGeom prst="rect">
            <a:avLst/>
          </a:prstGeom>
          <a:solidFill>
            <a:srgbClr val="1A0A47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781812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</a:t>
            </a:r>
            <a:endParaRPr lang="en-US" sz="6000" dirty="0"/>
          </a:p>
        </p:txBody>
      </p:sp>
      <p:sp>
        <p:nvSpPr>
          <p:cNvPr id="32" name="Text 26"/>
          <p:cNvSpPr/>
          <p:nvPr/>
        </p:nvSpPr>
        <p:spPr>
          <a:xfrm>
            <a:off x="7955280" y="36118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fairness isn't a feature I'm adding.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problem I've spent my career solving.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7955280" y="5897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AARON HIGHTOWER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TRACTION  ·  WHAT'S BUILT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software, not slideware.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5440680" cy="105156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95351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25880" y="282549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CELLTOWER — LIVE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325880" y="311810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cryptographic stream format shipping. Deterministic replay and signed receipts in production.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72200" y="2697480"/>
            <a:ext cx="5440680" cy="105156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953512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95160" y="282549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SWITCHBOARD v0.2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995160" y="311810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ops console: hash-chained double-entry ledger, public score ledger, spectator renderer.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02920" y="3931920"/>
            <a:ext cx="5440680" cy="105156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87952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40599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HUB — LIVE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325880" y="435254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ahightower.com: registration, player PIN, and the score pipeline running end-to-end.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172200" y="3931920"/>
            <a:ext cx="5440680" cy="105156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187952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40599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PATENT + 25-YR TRACK RECORD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995160" y="435254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patent and a quarter-century shipping competitive gaming systems.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02920" y="5303520"/>
            <a:ext cx="11201400" cy="868680"/>
          </a:xfrm>
          <a:prstGeom prst="rect">
            <a:avLst/>
          </a:prstGeom>
          <a:solidFill>
            <a:srgbClr val="080018"/>
          </a:solidFill>
          <a:ln w="12700">
            <a:solidFill>
              <a:srgbClr val="FFC24B"/>
            </a:solidFill>
            <a:prstDash val="dash"/>
          </a:ln>
        </p:spPr>
      </p:sp>
      <p:sp>
        <p:nvSpPr>
          <p:cNvPr id="31" name="Text 25"/>
          <p:cNvSpPr/>
          <p:nvPr/>
        </p:nvSpPr>
        <p:spPr>
          <a:xfrm>
            <a:off x="731520" y="5431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BEFORE SENDING: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31520" y="572414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registered players ]      [ operator conversations / LOIs ]      [ pilot tournaments run ]      [ verification volume 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COMPETITION  ·  THE MOAT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asks for trust.</a:t>
            </a:r>
            <a:endParaRPr lang="en-US" sz="3000" dirty="0"/>
          </a:p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make the score self-proving.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5440680" cy="2788920"/>
          </a:xfrm>
          <a:prstGeom prst="rect">
            <a:avLst/>
          </a:prstGeom>
          <a:solidFill>
            <a:srgbClr val="120634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CONVENTIONAL ANTI-CHEAT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0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33558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Heuristic, probabilistic, server-side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8620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3813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“Trust our detection.”</a:t>
            </a:r>
            <a:endParaRPr lang="en-US" sz="13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434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4270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black box to regulators and players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00600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727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cheating after the fact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263640" y="2697480"/>
            <a:ext cx="5440680" cy="2788920"/>
          </a:xfrm>
          <a:prstGeom prst="rect">
            <a:avLst/>
          </a:prstGeom>
          <a:solidFill>
            <a:srgbClr val="1A0A47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49224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14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41985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39712" y="33558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cryptographic, offline-verifiable</a:t>
            </a:r>
            <a:endParaRPr lang="en-US" sz="13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877056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39712" y="3813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“Verify it yourself.”</a:t>
            </a:r>
            <a:endParaRPr lang="en-US" sz="13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334256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39712" y="4270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and regulator-ready</a:t>
            </a:r>
            <a:endParaRPr lang="en-US" sz="13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791456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839712" y="4727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score before money moves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502920" y="562356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MOAT:  </a:t>
            </a:r>
            <a:pPr indent="0" marL="0">
              <a:buNone/>
            </a:pPr>
            <a:r>
              <a:rPr lang="en-US" sz="1300" i="1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granted patent, 25 years of domain expertise, and a shipping reference implementation rivals would need years to match.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06479" y="27432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06479" y="6583680"/>
            <a:ext cx="310896" cy="0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72784"/>
            <a:ext cx="0" cy="310896"/>
          </a:xfrm>
          <a:prstGeom prst="line">
            <a:avLst/>
          </a:prstGeom>
          <a:noFill/>
          <a:ln w="19050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291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HIGH TOWER DISTRICT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31175" y="6291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914400"/>
            <a:ext cx="11185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buNone/>
            </a:pPr>
            <a:r>
              <a:rPr lang="en-US" sz="4000" b="1" spc="100" kern="0" dirty="0">
                <a:solidFill>
                  <a:srgbClr val="FF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4000" b="1" spc="100" kern="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4000" b="1" spc="100" kern="0" dirty="0">
                <a:solidFill>
                  <a:srgbClr val="C6F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4000" b="1" spc="1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4000" b="1" spc="10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4000" b="1" spc="100" kern="0" dirty="0">
                <a:solidFill>
                  <a:srgbClr val="3A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4000" b="1" spc="100" kern="0" dirty="0">
                <a:solidFill>
                  <a:srgbClr val="8A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4000" b="1" spc="100" kern="0" dirty="0">
                <a:solidFill>
                  <a:srgbClr val="C04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4000" b="1" spc="100" kern="0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40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4000" b="1" spc="100" kern="0" dirty="0">
                <a:solidFill>
                  <a:srgbClr val="FF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4000" b="1" spc="100" kern="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4000" b="1" spc="100" kern="0" dirty="0">
                <a:solidFill>
                  <a:srgbClr val="C6F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4000" b="1" spc="1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02920" y="18745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 runway to a licensed, revenue-generating integrity platform.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2514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0" y="3026664"/>
            <a:ext cx="3657600" cy="274320"/>
          </a:xfrm>
          <a:prstGeom prst="rect">
            <a:avLst/>
          </a:prstGeom>
          <a:solidFill>
            <a:srgbClr val="120634"/>
          </a:solidFill>
          <a:ln w="9525">
            <a:solidFill>
              <a:srgbClr val="2A14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3026664"/>
            <a:ext cx="1645920" cy="274320"/>
          </a:xfrm>
          <a:prstGeom prst="rect">
            <a:avLst/>
          </a:prstGeom>
          <a:solidFill>
            <a:srgbClr val="00FFAA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5387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gaming-law / licensing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840480" y="3593592"/>
            <a:ext cx="3657600" cy="274320"/>
          </a:xfrm>
          <a:prstGeom prst="rect">
            <a:avLst/>
          </a:prstGeom>
          <a:solidFill>
            <a:srgbClr val="120634"/>
          </a:solidFill>
          <a:ln w="9525">
            <a:solidFill>
              <a:srgbClr val="2A1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3593592"/>
            <a:ext cx="731520" cy="274320"/>
          </a:xfrm>
          <a:prstGeom prst="rect">
            <a:avLst/>
          </a:prstGeom>
          <a:solidFill>
            <a:srgbClr val="FFC24B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3538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1056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&amp; operator partnerships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840480" y="4160520"/>
            <a:ext cx="3657600" cy="274320"/>
          </a:xfrm>
          <a:prstGeom prst="rect">
            <a:avLst/>
          </a:prstGeom>
          <a:solidFill>
            <a:srgbClr val="120634"/>
          </a:solidFill>
          <a:ln w="9525">
            <a:solidFill>
              <a:srgbClr val="2A14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4160520"/>
            <a:ext cx="731520" cy="274320"/>
          </a:xfrm>
          <a:prstGeom prst="rect">
            <a:avLst/>
          </a:prstGeom>
          <a:solidFill>
            <a:srgbClr val="FF2A9D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41056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67258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runway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840480" y="4727448"/>
            <a:ext cx="3657600" cy="274320"/>
          </a:xfrm>
          <a:prstGeom prst="rect">
            <a:avLst/>
          </a:prstGeom>
          <a:solidFill>
            <a:srgbClr val="120634"/>
          </a:solidFill>
          <a:ln w="9525">
            <a:solidFill>
              <a:srgbClr val="2A14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4727448"/>
            <a:ext cx="548640" cy="274320"/>
          </a:xfrm>
          <a:prstGeom prst="rect">
            <a:avLst/>
          </a:prstGeom>
          <a:solidFill>
            <a:srgbClr val="8A5BFF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46725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732520" y="2697480"/>
            <a:ext cx="2971800" cy="3246120"/>
          </a:xfrm>
          <a:prstGeom prst="rect">
            <a:avLst/>
          </a:prstGeom>
          <a:solidFill>
            <a:srgbClr val="1A0A47"/>
          </a:solidFill>
          <a:ln w="12700">
            <a:solidFill>
              <a:srgbClr val="5500A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961120" y="2834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0" y="3246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first N licensed operators ]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0" y="39044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monthly verification volume ]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961120" y="45628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SWITCHBOARD paying tournaments ]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961120" y="5221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revenue / ARR target ]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5577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 STRUCTURE:  </a:t>
            </a:r>
            <a:pPr indent="0" marL="0">
              <a:buNone/>
            </a:pPr>
            <a:r>
              <a:rPr lang="en-US" sz="1300" dirty="0">
                <a:solidFill>
                  <a:srgbClr val="EA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$500K minimum check fits cleanly as a lead plus syndicate.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65760" cy="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0" cy="36576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51615" y="274320"/>
            <a:ext cx="365760" cy="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7375" y="274320"/>
            <a:ext cx="0" cy="36576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0"/>
            <a:ext cx="365760" cy="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217920"/>
            <a:ext cx="0" cy="36576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51615" y="6583680"/>
            <a:ext cx="365760" cy="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17375" y="6217920"/>
            <a:ext cx="0" cy="365760"/>
          </a:xfrm>
          <a:prstGeom prst="line">
            <a:avLst/>
          </a:prstGeom>
          <a:noFill/>
          <a:ln w="22225">
            <a:solidFill>
              <a:srgbClr val="55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11460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" kern="0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FF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C6F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3A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8A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C04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FF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FFC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C6F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3A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8A5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C04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FF2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ctr" indent="0" marL="0">
              <a:buNone/>
            </a:pPr>
            <a:r>
              <a:rPr lang="en-US" sz="4400" b="1" spc="100" kern="0" dirty="0">
                <a:solidFill>
                  <a:srgbClr val="FF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A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Tower District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Aaron Hightower</a:t>
            </a:r>
            <a:pPr algn="ctr" indent="0" marL="0">
              <a:buNone/>
            </a:pPr>
            <a:r>
              <a:rPr lang="en-US" sz="1500" dirty="0">
                <a:solidFill>
                  <a:srgbClr val="00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ahightower.com   ·   linkedin.com/in/ahigh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A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// SEED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High Tower District — Seed Deck</dc:title>
  <dc:subject>PptxGenJS Presentation</dc:subject>
  <dc:creator>Aaron Hightower</dc:creator>
  <cp:lastModifiedBy>Aaron Hightower</cp:lastModifiedBy>
  <cp:revision>1</cp:revision>
  <dcterms:created xsi:type="dcterms:W3CDTF">2026-06-17T19:43:40Z</dcterms:created>
  <dcterms:modified xsi:type="dcterms:W3CDTF">2026-06-17T19:43:40Z</dcterms:modified>
</cp:coreProperties>
</file>